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1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0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8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6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9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9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1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0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7919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93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4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48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17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9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83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748385" y="834887"/>
            <a:ext cx="7080026" cy="1740098"/>
          </a:xfrm>
        </p:spPr>
        <p:txBody>
          <a:bodyPr/>
          <a:lstStyle/>
          <a:p>
            <a:r>
              <a:rPr dirty="0"/>
              <a:t>Express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748385" y="2891652"/>
            <a:ext cx="7703025" cy="1986384"/>
          </a:xfrm>
        </p:spPr>
        <p:txBody>
          <a:bodyPr>
            <a:normAutofit/>
          </a:bodyPr>
          <a:lstStyle/>
          <a:p>
            <a:r>
              <a:rPr lang="es-AR" dirty="0" err="1"/>
              <a:t>Delprato</a:t>
            </a:r>
            <a:r>
              <a:rPr lang="es-AR" dirty="0"/>
              <a:t> Luca - 50215</a:t>
            </a:r>
          </a:p>
          <a:p>
            <a:r>
              <a:rPr lang="es-AR" dirty="0"/>
              <a:t>Tomas Splivalo - </a:t>
            </a:r>
            <a:r>
              <a:rPr lang="en-US" dirty="0">
                <a:effectLst/>
              </a:rPr>
              <a:t>51665</a:t>
            </a:r>
            <a:endParaRPr lang="es-AR" dirty="0"/>
          </a:p>
          <a:p>
            <a:r>
              <a:rPr lang="es-AR" dirty="0"/>
              <a:t>Lautaro M. Peralta – </a:t>
            </a:r>
            <a:r>
              <a:rPr lang="en-US" dirty="0">
                <a:effectLst/>
              </a:rPr>
              <a:t>53483</a:t>
            </a:r>
          </a:p>
          <a:p>
            <a:r>
              <a:rPr lang="es-419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Bruno </a:t>
            </a:r>
            <a:r>
              <a:rPr lang="es-419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Capiglioni</a:t>
            </a:r>
            <a:r>
              <a:rPr lang="es-419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- 51836</a:t>
            </a:r>
            <a:endParaRPr lang="en-GB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dirty="0"/>
          </a:p>
        </p:txBody>
      </p:sp>
      <p:pic>
        <p:nvPicPr>
          <p:cNvPr id="1026" name="Picture 2" descr="Javascript Logo PNG">
            <a:extLst>
              <a:ext uri="{FF2B5EF4-FFF2-40B4-BE49-F238E27FC236}">
                <a16:creationId xmlns:a16="http://schemas.microsoft.com/office/drawing/2014/main" id="{13F70347-230E-1C0D-3E0B-304513B80C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8" t="24815" r="19094" b="8188"/>
          <a:stretch>
            <a:fillRect/>
          </a:stretch>
        </p:blipFill>
        <p:spPr bwMode="auto">
          <a:xfrm>
            <a:off x="3140249" y="1804570"/>
            <a:ext cx="632922" cy="61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Logotipo">
            <a:extLst>
              <a:ext uri="{FF2B5EF4-FFF2-40B4-BE49-F238E27FC236}">
                <a16:creationId xmlns:a16="http://schemas.microsoft.com/office/drawing/2014/main" id="{8954170D-16C3-8D3D-8A19-0C097DF44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41" y="1528602"/>
            <a:ext cx="2940441" cy="104638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9EDB54C7-496C-A57E-B2D5-2E6212F1E7D1}"/>
              </a:ext>
            </a:extLst>
          </p:cNvPr>
          <p:cNvSpPr txBox="1">
            <a:spLocks/>
          </p:cNvSpPr>
          <p:nvPr/>
        </p:nvSpPr>
        <p:spPr>
          <a:xfrm>
            <a:off x="3140249" y="2866093"/>
            <a:ext cx="7703025" cy="198638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419" u="none" strike="noStrike" dirty="0">
                <a:effectLst/>
                <a:ea typeface="Arial" panose="020B0604020202020204" pitchFamily="34" charset="0"/>
              </a:rPr>
              <a:t>Irina </a:t>
            </a:r>
            <a:r>
              <a:rPr lang="es-419" u="none" strike="noStrike" dirty="0" err="1">
                <a:effectLst/>
                <a:ea typeface="Arial" panose="020B0604020202020204" pitchFamily="34" charset="0"/>
              </a:rPr>
              <a:t>Repupilli</a:t>
            </a:r>
            <a:r>
              <a:rPr lang="es-419" u="none" strike="noStrike" dirty="0">
                <a:effectLst/>
                <a:ea typeface="Arial" panose="020B0604020202020204" pitchFamily="34" charset="0"/>
              </a:rPr>
              <a:t> </a:t>
            </a:r>
            <a:r>
              <a:rPr lang="it-IT" dirty="0"/>
              <a:t>– </a:t>
            </a:r>
            <a:r>
              <a:rPr lang="es-419" u="none" strike="noStrike" dirty="0">
                <a:effectLst/>
                <a:ea typeface="Arial" panose="020B0604020202020204" pitchFamily="34" charset="0"/>
              </a:rPr>
              <a:t>52417</a:t>
            </a:r>
            <a:endParaRPr lang="it-IT" dirty="0"/>
          </a:p>
          <a:p>
            <a:r>
              <a:rPr lang="es-419" u="none" strike="noStrike" dirty="0" err="1">
                <a:effectLst/>
                <a:ea typeface="Arial" panose="020B0604020202020204" pitchFamily="34" charset="0"/>
              </a:rPr>
              <a:t>Schiffo</a:t>
            </a:r>
            <a:r>
              <a:rPr lang="es-419" u="none" strike="noStrike" dirty="0">
                <a:effectLst/>
                <a:ea typeface="Arial" panose="020B0604020202020204" pitchFamily="34" charset="0"/>
              </a:rPr>
              <a:t> Bruno </a:t>
            </a:r>
            <a:r>
              <a:rPr lang="it-IT" dirty="0"/>
              <a:t>- </a:t>
            </a:r>
            <a:r>
              <a:rPr lang="es-419" u="none" strike="noStrike" dirty="0">
                <a:effectLst/>
                <a:ea typeface="Arial" panose="020B0604020202020204" pitchFamily="34" charset="0"/>
              </a:rPr>
              <a:t>53256 </a:t>
            </a:r>
          </a:p>
          <a:p>
            <a:r>
              <a:rPr lang="es-419" u="none" strike="noStrike" dirty="0">
                <a:effectLst/>
                <a:ea typeface="Arial" panose="020B0604020202020204" pitchFamily="34" charset="0"/>
              </a:rPr>
              <a:t>Lautaro </a:t>
            </a:r>
            <a:r>
              <a:rPr lang="es-419" u="none" strike="noStrike" dirty="0" err="1">
                <a:effectLst/>
                <a:ea typeface="Arial" panose="020B0604020202020204" pitchFamily="34" charset="0"/>
              </a:rPr>
              <a:t>Frassine</a:t>
            </a:r>
            <a:r>
              <a:rPr lang="es-419" u="none" strike="noStrike" dirty="0">
                <a:effectLst/>
                <a:ea typeface="Arial" panose="020B0604020202020204" pitchFamily="34" charset="0"/>
              </a:rPr>
              <a:t> -53133</a:t>
            </a:r>
            <a:endParaRPr lang="en-GB" u="none" strike="noStrike" dirty="0">
              <a:effectLst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</a:pPr>
            <a:r>
              <a:rPr lang="es-419" u="none" strike="noStrike" dirty="0">
                <a:effectLst/>
                <a:ea typeface="Arial" panose="020B0604020202020204" pitchFamily="34" charset="0"/>
              </a:rPr>
              <a:t>Facundo Gregoret-52634</a:t>
            </a:r>
            <a:endParaRPr lang="en-GB" u="none" strike="noStrike" dirty="0">
              <a:effectLst/>
              <a:ea typeface="Arial" panose="020B0604020202020204" pitchFamily="34" charset="0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Express.js?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s-ES" dirty="0">
                <a:effectLst/>
              </a:rPr>
              <a:t>Framework minimalista para Node.js que provee ruteo y middlewares esenciales. Creado en 2010, se consolidó como el estándar de facto en el ecosistema JavaScript para construir </a:t>
            </a:r>
            <a:r>
              <a:rPr lang="es-ES" dirty="0" err="1">
                <a:effectLst/>
              </a:rPr>
              <a:t>backends</a:t>
            </a:r>
            <a:r>
              <a:rPr lang="es-ES" dirty="0">
                <a:effectLst/>
              </a:rPr>
              <a:t> y </a:t>
            </a:r>
            <a:r>
              <a:rPr lang="es-ES" dirty="0" err="1">
                <a:effectLst/>
              </a:rPr>
              <a:t>APIs</a:t>
            </a:r>
            <a:r>
              <a:rPr lang="es-ES" dirty="0">
                <a:effectLst/>
              </a:rPr>
              <a:t>. Su filosofía es brindar solo lo básico, dejando al desarrollador la libertad de elegir librerías de seguridad, validación o persistencia</a:t>
            </a:r>
          </a:p>
          <a:p>
            <a:pPr marL="36900" indent="0">
              <a:buNone/>
            </a:pPr>
            <a:r>
              <a:rPr lang="es-ES" b="1" dirty="0">
                <a:effectLst/>
              </a:rPr>
              <a:t>Usos principales</a:t>
            </a:r>
            <a:endParaRPr lang="es-ES" dirty="0">
              <a:effectLst/>
            </a:endParaRPr>
          </a:p>
          <a:p>
            <a:r>
              <a:rPr lang="es-ES" dirty="0" err="1">
                <a:effectLst/>
              </a:rPr>
              <a:t>APIs</a:t>
            </a:r>
            <a:r>
              <a:rPr lang="es-ES" dirty="0">
                <a:effectLst/>
              </a:rPr>
              <a:t> REST y </a:t>
            </a:r>
            <a:r>
              <a:rPr lang="es-ES" dirty="0" err="1">
                <a:effectLst/>
              </a:rPr>
              <a:t>GraphQL</a:t>
            </a:r>
            <a:r>
              <a:rPr lang="es-ES" dirty="0">
                <a:effectLst/>
              </a:rPr>
              <a:t>.</a:t>
            </a:r>
          </a:p>
          <a:p>
            <a:r>
              <a:rPr lang="es-ES" dirty="0" err="1">
                <a:effectLst/>
              </a:rPr>
              <a:t>Backends</a:t>
            </a:r>
            <a:r>
              <a:rPr lang="es-ES" dirty="0">
                <a:effectLst/>
              </a:rPr>
              <a:t> para aplicaciones SPA y móviles.</a:t>
            </a:r>
          </a:p>
          <a:p>
            <a:r>
              <a:rPr lang="es-ES" dirty="0">
                <a:effectLst/>
              </a:rPr>
              <a:t>Renderizado del lado del servidor (SSR) con motores de plantillas.</a:t>
            </a:r>
          </a:p>
          <a:p>
            <a:r>
              <a:rPr lang="es-ES" dirty="0" err="1">
                <a:effectLst/>
              </a:rPr>
              <a:t>Webhooks</a:t>
            </a:r>
            <a:r>
              <a:rPr lang="es-ES" dirty="0">
                <a:effectLst/>
              </a:rPr>
              <a:t> y microservicios ligeros.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9153B5-903A-08DD-C0FE-2C21B1102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14" y="336269"/>
            <a:ext cx="7765322" cy="529590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s-ES" b="1" dirty="0">
                <a:effectLst/>
              </a:rPr>
              <a:t> Ventajas</a:t>
            </a:r>
            <a:endParaRPr lang="es-ES" dirty="0">
              <a:effectLst/>
            </a:endParaRPr>
          </a:p>
          <a:p>
            <a:r>
              <a:rPr lang="es-ES" dirty="0">
                <a:effectLst/>
              </a:rPr>
              <a:t>Flexibilidad total en la arquitectura.</a:t>
            </a:r>
          </a:p>
          <a:p>
            <a:r>
              <a:rPr lang="es-ES" dirty="0">
                <a:effectLst/>
              </a:rPr>
              <a:t>Gran comunidad y ecosistema de middlewares.</a:t>
            </a:r>
          </a:p>
          <a:p>
            <a:r>
              <a:rPr lang="es-ES" dirty="0">
                <a:effectLst/>
              </a:rPr>
              <a:t>Curva de aprendizaje baja y rápida adopción.</a:t>
            </a:r>
          </a:p>
          <a:p>
            <a:pPr marL="36900" indent="0">
              <a:buNone/>
            </a:pPr>
            <a:endParaRPr lang="en-US" b="1" dirty="0">
              <a:effectLst/>
            </a:endParaRPr>
          </a:p>
          <a:p>
            <a:pPr marL="36900" indent="0">
              <a:buNone/>
            </a:pPr>
            <a:r>
              <a:rPr lang="en-US" b="1" dirty="0" err="1">
                <a:effectLst/>
              </a:rPr>
              <a:t>Desventajas</a:t>
            </a:r>
            <a:endParaRPr lang="en-US" b="1" dirty="0">
              <a:effectLst/>
            </a:endParaRPr>
          </a:p>
          <a:p>
            <a:r>
              <a:rPr lang="en-US" dirty="0" err="1">
                <a:effectLst/>
              </a:rPr>
              <a:t>Dificultades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escalabilidad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grandes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proyectos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Falta de </a:t>
            </a:r>
            <a:r>
              <a:rPr lang="en-US" dirty="0" err="1">
                <a:effectLst/>
              </a:rPr>
              <a:t>funcionalidades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nativas</a:t>
            </a:r>
            <a:r>
              <a:rPr lang="en-US" dirty="0">
                <a:effectLst/>
              </a:rPr>
              <a:t>.</a:t>
            </a:r>
          </a:p>
          <a:p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2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effectLst/>
              </a:rPr>
              <a:t>Conceptos</a:t>
            </a:r>
            <a:r>
              <a:rPr dirty="0">
                <a:effectLst/>
              </a:rPr>
              <a:t> </a:t>
            </a:r>
            <a:r>
              <a:rPr dirty="0" err="1">
                <a:effectLst/>
              </a:rPr>
              <a:t>Fundamentales</a:t>
            </a:r>
            <a:endParaRPr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err="1">
                <a:effectLst/>
              </a:rPr>
              <a:t>Request</a:t>
            </a:r>
            <a:r>
              <a:rPr lang="es-ES" b="1" dirty="0">
                <a:effectLst/>
              </a:rPr>
              <a:t> &amp; Response:</a:t>
            </a:r>
            <a:r>
              <a:rPr lang="es-ES" dirty="0">
                <a:effectLst/>
              </a:rPr>
              <a:t> representan el ciclo básico de comunicación HTTP entre cliente y servidor; toda aplicación Express se construye sobre este flujo.</a:t>
            </a:r>
          </a:p>
          <a:p>
            <a:r>
              <a:rPr lang="es-ES" b="1" dirty="0">
                <a:effectLst/>
              </a:rPr>
              <a:t>Middleware:</a:t>
            </a:r>
            <a:r>
              <a:rPr lang="es-ES" dirty="0">
                <a:effectLst/>
              </a:rPr>
              <a:t> funciones que procesan la petición en cadena mediante </a:t>
            </a:r>
            <a:r>
              <a:rPr lang="es-ES" dirty="0" err="1">
                <a:effectLst/>
              </a:rPr>
              <a:t>next</a:t>
            </a:r>
            <a:r>
              <a:rPr lang="es-ES" dirty="0">
                <a:effectLst/>
              </a:rPr>
              <a:t>(), permitiendo </a:t>
            </a:r>
            <a:r>
              <a:rPr lang="es-ES" dirty="0" err="1">
                <a:effectLst/>
              </a:rPr>
              <a:t>logging</a:t>
            </a:r>
            <a:r>
              <a:rPr lang="es-ES" dirty="0">
                <a:effectLst/>
              </a:rPr>
              <a:t>, validación, autenticación o manipulación de datos antes de llegar a la ruta final.</a:t>
            </a:r>
          </a:p>
          <a:p>
            <a:r>
              <a:rPr lang="es-ES" b="1" dirty="0" err="1">
                <a:effectLst/>
              </a:rPr>
              <a:t>Router</a:t>
            </a:r>
            <a:r>
              <a:rPr lang="es-ES" b="1" dirty="0">
                <a:effectLst/>
              </a:rPr>
              <a:t>:</a:t>
            </a:r>
            <a:r>
              <a:rPr lang="es-ES" dirty="0">
                <a:effectLst/>
              </a:rPr>
              <a:t> mecanismo modular para agrupar rutas y mantener el código organizado y escalable.</a:t>
            </a:r>
          </a:p>
          <a:p>
            <a:r>
              <a:rPr lang="es-ES" b="1" dirty="0">
                <a:effectLst/>
              </a:rPr>
              <a:t>Error Middleware:</a:t>
            </a:r>
            <a:r>
              <a:rPr lang="es-ES" dirty="0">
                <a:effectLst/>
              </a:rPr>
              <a:t> funciones especiales con 4 parámetros que permiten capturar y centralizar errores, evitando duplicación de lógica y mejorando la seguridad.</a:t>
            </a:r>
            <a:endParaRPr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effectLst/>
              </a:rPr>
              <a:t>Servidor</a:t>
            </a:r>
            <a:r>
              <a:rPr dirty="0">
                <a:effectLst/>
              </a:rPr>
              <a:t> </a:t>
            </a:r>
            <a:r>
              <a:rPr dirty="0" err="1">
                <a:effectLst/>
              </a:rPr>
              <a:t>Básico</a:t>
            </a:r>
            <a:endParaRPr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effectLst/>
              </a:rPr>
              <a:t>Estructura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mínima</a:t>
            </a:r>
            <a:r>
              <a:rPr lang="en-US" b="1" dirty="0">
                <a:effectLst/>
              </a:rPr>
              <a:t>:</a:t>
            </a:r>
            <a:r>
              <a:rPr lang="en-US" dirty="0">
                <a:effectLst/>
              </a:rPr>
              <a:t> basta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app.js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ruta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inicial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app.get</a:t>
            </a:r>
            <a:r>
              <a:rPr lang="en-US" dirty="0">
                <a:effectLst/>
              </a:rPr>
              <a:t>('/', handler).</a:t>
            </a:r>
          </a:p>
          <a:p>
            <a:r>
              <a:rPr lang="en-US" dirty="0" err="1">
                <a:effectLst/>
              </a:rPr>
              <a:t>Middlewares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esenciales</a:t>
            </a:r>
            <a:r>
              <a:rPr lang="en-US" dirty="0">
                <a:effectLst/>
              </a:rPr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 err="1">
                <a:effectLst/>
              </a:rPr>
              <a:t>express.json</a:t>
            </a:r>
            <a:r>
              <a:rPr lang="es-ES" dirty="0">
                <a:effectLst/>
              </a:rPr>
              <a:t>() → </a:t>
            </a:r>
            <a:r>
              <a:rPr lang="es-ES" dirty="0" err="1">
                <a:effectLst/>
              </a:rPr>
              <a:t>parsea</a:t>
            </a:r>
            <a:r>
              <a:rPr lang="es-ES" dirty="0">
                <a:effectLst/>
              </a:rPr>
              <a:t> JSON en el cuerpo de la </a:t>
            </a:r>
            <a:r>
              <a:rPr lang="es-ES" dirty="0" err="1">
                <a:effectLst/>
              </a:rPr>
              <a:t>request</a:t>
            </a:r>
            <a:r>
              <a:rPr lang="es-ES" dirty="0">
                <a:effectLst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</a:rPr>
              <a:t>express.urlencoded</a:t>
            </a:r>
            <a:r>
              <a:rPr lang="en-US" dirty="0">
                <a:effectLst/>
              </a:rPr>
              <a:t>() → </a:t>
            </a:r>
            <a:r>
              <a:rPr lang="en-US" dirty="0" err="1">
                <a:effectLst/>
              </a:rPr>
              <a:t>interpreta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formularios</a:t>
            </a:r>
            <a:r>
              <a:rPr lang="en-US" dirty="0">
                <a:effectLst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</a:rPr>
              <a:t>express.static</a:t>
            </a:r>
            <a:r>
              <a:rPr lang="en-US" dirty="0">
                <a:effectLst/>
              </a:rPr>
              <a:t>() → </a:t>
            </a:r>
            <a:r>
              <a:rPr lang="en-US" dirty="0" err="1">
                <a:effectLst/>
              </a:rPr>
              <a:t>sirve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imágenes</a:t>
            </a:r>
            <a:r>
              <a:rPr lang="en-US" dirty="0">
                <a:effectLst/>
              </a:rPr>
              <a:t>, CSS o JS.</a:t>
            </a:r>
          </a:p>
          <a:p>
            <a:r>
              <a:rPr lang="es-ES" b="1" dirty="0">
                <a:effectLst/>
              </a:rPr>
              <a:t>Inicio del servidor:</a:t>
            </a:r>
            <a:r>
              <a:rPr lang="es-ES" dirty="0">
                <a:effectLst/>
              </a:rPr>
              <a:t> </a:t>
            </a:r>
            <a:r>
              <a:rPr lang="es-ES" dirty="0" err="1">
                <a:effectLst/>
              </a:rPr>
              <a:t>app.listen</a:t>
            </a:r>
            <a:r>
              <a:rPr lang="es-ES" dirty="0">
                <a:effectLst/>
              </a:rPr>
              <a:t>(PORT) arranca la aplicación, quedando a la escucha en el puerto definido por configuración o variables de entorno.</a:t>
            </a:r>
          </a:p>
          <a:p>
            <a:r>
              <a:rPr lang="es-ES" b="1" dirty="0">
                <a:effectLst/>
              </a:rPr>
              <a:t>Ventaja clave:</a:t>
            </a:r>
            <a:r>
              <a:rPr lang="es-ES" dirty="0">
                <a:effectLst/>
              </a:rPr>
              <a:t> en menos de 10 líneas se puede desplegar un </a:t>
            </a:r>
            <a:r>
              <a:rPr lang="es-ES" dirty="0" err="1">
                <a:effectLst/>
              </a:rPr>
              <a:t>backend</a:t>
            </a:r>
            <a:r>
              <a:rPr lang="es-ES" dirty="0">
                <a:effectLst/>
              </a:rPr>
              <a:t> funcional y listo para producción con middleware adecuado.</a:t>
            </a:r>
            <a:endParaRPr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Rutas y </a:t>
            </a:r>
            <a:r>
              <a:rPr dirty="0" err="1"/>
              <a:t>Middlewares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CRUD completo: implementación de operaciones básicas con métodos GET, POST, PATCH y DELETE.</a:t>
            </a:r>
          </a:p>
          <a:p>
            <a:r>
              <a:rPr lang="es-ES" dirty="0"/>
              <a:t>Parámetros dinámicos: permiten capturar valores en la URL (/</a:t>
            </a:r>
            <a:r>
              <a:rPr lang="es-ES" dirty="0" err="1"/>
              <a:t>users</a:t>
            </a:r>
            <a:r>
              <a:rPr lang="es-ES" dirty="0"/>
              <a:t>/:id) y consultas mediante </a:t>
            </a:r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strings</a:t>
            </a:r>
            <a:r>
              <a:rPr lang="es-ES" dirty="0"/>
              <a:t>.</a:t>
            </a:r>
          </a:p>
          <a:p>
            <a:r>
              <a:rPr lang="es-ES" dirty="0"/>
              <a:t>Middleware global vs específico: los globales se aplican a todas las rutas, mientras que los específicos se encadenan en </a:t>
            </a:r>
            <a:r>
              <a:rPr lang="es-ES" dirty="0" err="1"/>
              <a:t>endpoints</a:t>
            </a:r>
            <a:r>
              <a:rPr lang="es-ES" dirty="0"/>
              <a:t> concretos.</a:t>
            </a:r>
          </a:p>
          <a:p>
            <a:r>
              <a:rPr lang="es-ES" dirty="0"/>
              <a:t>Manejo de errores: un error </a:t>
            </a:r>
            <a:r>
              <a:rPr lang="es-ES" dirty="0" err="1"/>
              <a:t>handler</a:t>
            </a:r>
            <a:r>
              <a:rPr lang="es-ES" dirty="0"/>
              <a:t> centralizado gestiona códigos de estado, mensajes claros y el </a:t>
            </a:r>
            <a:r>
              <a:rPr lang="es-ES" dirty="0" err="1"/>
              <a:t>stack</a:t>
            </a:r>
            <a:r>
              <a:rPr lang="es-ES" dirty="0"/>
              <a:t> trace (oculto en producción) para mantener seguridad y trazabilidad.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Arquitectura</a:t>
            </a:r>
            <a:r>
              <a:rPr dirty="0"/>
              <a:t> y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Separación en capas: Rutas → Controladores → Servicios → Modelos, lo que facilita el mantenimiento y la escalabilidad.</a:t>
            </a:r>
          </a:p>
          <a:p>
            <a:r>
              <a:rPr lang="es-ES" dirty="0"/>
              <a:t>Validación de datos: uso de librerías como </a:t>
            </a:r>
            <a:r>
              <a:rPr lang="es-ES" dirty="0" err="1"/>
              <a:t>Zod</a:t>
            </a:r>
            <a:r>
              <a:rPr lang="es-ES" dirty="0"/>
              <a:t> o </a:t>
            </a:r>
            <a:r>
              <a:rPr lang="es-ES" dirty="0" err="1"/>
              <a:t>Joi</a:t>
            </a:r>
            <a:r>
              <a:rPr lang="es-ES" dirty="0"/>
              <a:t> para garantizar entradas seguras y </a:t>
            </a:r>
            <a:r>
              <a:rPr lang="es-ES" dirty="0" err="1"/>
              <a:t>tipadas</a:t>
            </a:r>
            <a:r>
              <a:rPr lang="es-ES" dirty="0"/>
              <a:t>.</a:t>
            </a:r>
          </a:p>
          <a:p>
            <a:r>
              <a:rPr lang="es-ES" dirty="0"/>
              <a:t>Estructura organizada de carpetas: </a:t>
            </a:r>
            <a:r>
              <a:rPr lang="es-ES" dirty="0" err="1"/>
              <a:t>routes</a:t>
            </a:r>
            <a:r>
              <a:rPr lang="es-ES" dirty="0"/>
              <a:t>/, </a:t>
            </a:r>
            <a:r>
              <a:rPr lang="es-ES" dirty="0" err="1"/>
              <a:t>controllers</a:t>
            </a:r>
            <a:r>
              <a:rPr lang="es-ES" dirty="0"/>
              <a:t>/, </a:t>
            </a:r>
            <a:r>
              <a:rPr lang="es-ES" dirty="0" err="1"/>
              <a:t>services</a:t>
            </a:r>
            <a:r>
              <a:rPr lang="es-ES" dirty="0"/>
              <a:t>/, middlewares/, </a:t>
            </a:r>
            <a:r>
              <a:rPr lang="es-ES" dirty="0" err="1"/>
              <a:t>schemas</a:t>
            </a:r>
            <a:r>
              <a:rPr lang="es-ES" dirty="0"/>
              <a:t>/.</a:t>
            </a:r>
          </a:p>
          <a:p>
            <a:r>
              <a:rPr lang="es-ES" dirty="0"/>
              <a:t>Buenas prácticas clave: integración de </a:t>
            </a:r>
            <a:r>
              <a:rPr lang="es-ES" dirty="0" err="1"/>
              <a:t>tests</a:t>
            </a:r>
            <a:r>
              <a:rPr lang="es-ES" dirty="0"/>
              <a:t> automáticos y documentación viva desde el inicio del proyecto para asegurar calidad y trazabilidad.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Helmet</a:t>
            </a:r>
            <a:r>
              <a:rPr lang="es-ES" dirty="0"/>
              <a:t>: establece cabeceras HTTP seguras contra ataques comunes.</a:t>
            </a:r>
          </a:p>
          <a:p>
            <a:r>
              <a:rPr lang="es-ES" dirty="0"/>
              <a:t>CORS: configuración precisa para restringir orígenes y métodos permitidos.</a:t>
            </a:r>
          </a:p>
          <a:p>
            <a:r>
              <a:rPr lang="es-ES" dirty="0" err="1"/>
              <a:t>Rate</a:t>
            </a:r>
            <a:r>
              <a:rPr lang="es-ES" dirty="0"/>
              <a:t> </a:t>
            </a:r>
            <a:r>
              <a:rPr lang="es-ES" dirty="0" err="1"/>
              <a:t>limiting</a:t>
            </a:r>
            <a:r>
              <a:rPr lang="es-ES" dirty="0"/>
              <a:t>: previene abusos y ataques de fuerza bruta limitando </a:t>
            </a:r>
            <a:r>
              <a:rPr lang="es-ES" dirty="0" err="1"/>
              <a:t>requests</a:t>
            </a:r>
            <a:r>
              <a:rPr lang="es-ES" dirty="0"/>
              <a:t> por IP.</a:t>
            </a:r>
          </a:p>
          <a:p>
            <a:r>
              <a:rPr lang="es-ES" dirty="0"/>
              <a:t>JWT (JSON Web Tokens): base de una autenticación </a:t>
            </a:r>
            <a:r>
              <a:rPr lang="es-ES" dirty="0" err="1"/>
              <a:t>stateless</a:t>
            </a:r>
            <a:r>
              <a:rPr lang="es-ES" dirty="0"/>
              <a:t> con autorización por roles.</a:t>
            </a:r>
          </a:p>
          <a:p>
            <a:r>
              <a:rPr lang="es-ES" dirty="0"/>
              <a:t>Variables de entorno: manejo seguro mediante .</a:t>
            </a:r>
            <a:r>
              <a:rPr lang="es-ES" dirty="0" err="1"/>
              <a:t>env</a:t>
            </a:r>
            <a:r>
              <a:rPr lang="es-ES" dirty="0"/>
              <a:t> validado con librerías (ej. </a:t>
            </a:r>
            <a:r>
              <a:rPr lang="es-ES" dirty="0" err="1"/>
              <a:t>Zod</a:t>
            </a:r>
            <a:r>
              <a:rPr lang="es-ES" dirty="0"/>
              <a:t>) para proteger secretos críticos.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Avanzadas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Subida de archivos: integración con </a:t>
            </a:r>
            <a:r>
              <a:rPr lang="es-ES" dirty="0" err="1"/>
              <a:t>Multer</a:t>
            </a:r>
            <a:r>
              <a:rPr lang="es-ES" dirty="0"/>
              <a:t> para manejar formularios </a:t>
            </a:r>
            <a:r>
              <a:rPr lang="es-ES" dirty="0" err="1"/>
              <a:t>multipart</a:t>
            </a:r>
            <a:r>
              <a:rPr lang="es-ES" dirty="0"/>
              <a:t>/</a:t>
            </a:r>
            <a:r>
              <a:rPr lang="es-ES" dirty="0" err="1"/>
              <a:t>form</a:t>
            </a:r>
            <a:r>
              <a:rPr lang="es-ES" dirty="0"/>
              <a:t>-data.</a:t>
            </a:r>
          </a:p>
          <a:p>
            <a:r>
              <a:rPr lang="es-ES" dirty="0"/>
              <a:t>Documentación interactiva: uso de </a:t>
            </a:r>
            <a:r>
              <a:rPr lang="es-ES" dirty="0" err="1"/>
              <a:t>Swagger</a:t>
            </a:r>
            <a:r>
              <a:rPr lang="es-ES" dirty="0"/>
              <a:t>/</a:t>
            </a:r>
            <a:r>
              <a:rPr lang="es-ES" dirty="0" err="1"/>
              <a:t>OpenAPI</a:t>
            </a:r>
            <a:r>
              <a:rPr lang="es-ES" dirty="0"/>
              <a:t> para describir y probar </a:t>
            </a:r>
            <a:r>
              <a:rPr lang="es-ES" dirty="0" err="1"/>
              <a:t>endpoints</a:t>
            </a:r>
            <a:r>
              <a:rPr lang="es-ES" dirty="0"/>
              <a:t>.</a:t>
            </a:r>
          </a:p>
          <a:p>
            <a:r>
              <a:rPr lang="es-ES" dirty="0" err="1"/>
              <a:t>Logging</a:t>
            </a:r>
            <a:r>
              <a:rPr lang="es-ES" dirty="0"/>
              <a:t> profesional: Morgan en desarrollo y Pino en producción para trazas estructuradas y de alto rendimiento.</a:t>
            </a:r>
          </a:p>
          <a:p>
            <a:r>
              <a:rPr lang="es-ES" dirty="0"/>
              <a:t>Internacionalización (i18n): soporte multilenguaje mediante i18next u otros middlewares, detectando idioma o permitiendo selección manual.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Integración</a:t>
            </a:r>
            <a:r>
              <a:rPr dirty="0"/>
              <a:t> y </a:t>
            </a:r>
            <a:r>
              <a:rPr dirty="0" err="1"/>
              <a:t>Escalabilidad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Bases de datos: integración fluida con ORM/</a:t>
            </a:r>
            <a:r>
              <a:rPr lang="es-ES" dirty="0" err="1"/>
              <a:t>ODMs</a:t>
            </a:r>
            <a:r>
              <a:rPr lang="es-ES" dirty="0"/>
              <a:t> como Prisma, MongoDB o </a:t>
            </a:r>
            <a:r>
              <a:rPr lang="es-ES" dirty="0" err="1"/>
              <a:t>Knex</a:t>
            </a:r>
            <a:r>
              <a:rPr lang="es-ES" dirty="0"/>
              <a:t>, según la necesidad relacional o NoSQL.</a:t>
            </a:r>
          </a:p>
          <a:p>
            <a:r>
              <a:rPr lang="es-ES" dirty="0"/>
              <a:t>Caché distribuido: uso de Redis para mejorar la velocidad de respuesta en consultas frecuentes.</a:t>
            </a:r>
          </a:p>
          <a:p>
            <a:r>
              <a:rPr lang="es-ES" dirty="0"/>
              <a:t>Escalado horizontal: ejecución en múltiples núcleos con PM2 o </a:t>
            </a:r>
            <a:r>
              <a:rPr lang="es-ES" dirty="0" err="1"/>
              <a:t>Node</a:t>
            </a:r>
            <a:r>
              <a:rPr lang="es-ES" dirty="0"/>
              <a:t> </a:t>
            </a:r>
            <a:r>
              <a:rPr lang="es-ES" dirty="0" err="1"/>
              <a:t>Cluster</a:t>
            </a:r>
            <a:r>
              <a:rPr lang="es-ES" dirty="0"/>
              <a:t> para soportar alta concurrencia.</a:t>
            </a:r>
          </a:p>
          <a:p>
            <a:r>
              <a:rPr lang="es-ES" dirty="0" err="1"/>
              <a:t>Contenerización</a:t>
            </a:r>
            <a:r>
              <a:rPr lang="es-ES" dirty="0"/>
              <a:t> y despliegue: empaquetado con Docker y publicación detrás de </a:t>
            </a:r>
            <a:r>
              <a:rPr lang="es-ES" dirty="0" err="1"/>
              <a:t>Nginx</a:t>
            </a:r>
            <a:r>
              <a:rPr lang="es-ES" dirty="0"/>
              <a:t> como reverse proxy seguro y balanceador de carga.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Testing y </a:t>
            </a:r>
            <a:r>
              <a:rPr dirty="0" err="1"/>
              <a:t>Observabilidad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Unit</a:t>
            </a:r>
            <a:r>
              <a:rPr lang="es-ES" dirty="0"/>
              <a:t> </a:t>
            </a:r>
            <a:r>
              <a:rPr lang="es-ES" dirty="0" err="1"/>
              <a:t>testing</a:t>
            </a:r>
            <a:r>
              <a:rPr lang="es-ES" dirty="0"/>
              <a:t>: uso de </a:t>
            </a:r>
            <a:r>
              <a:rPr lang="es-ES" dirty="0" err="1"/>
              <a:t>Vitest</a:t>
            </a:r>
            <a:r>
              <a:rPr lang="es-ES" dirty="0"/>
              <a:t> o </a:t>
            </a:r>
            <a:r>
              <a:rPr lang="es-ES" dirty="0" err="1"/>
              <a:t>Jest</a:t>
            </a:r>
            <a:r>
              <a:rPr lang="es-ES" dirty="0"/>
              <a:t> para validar funciones y servicios de manera aislada.</a:t>
            </a:r>
          </a:p>
          <a:p>
            <a:r>
              <a:rPr lang="es-ES" dirty="0"/>
              <a:t>Pruebas de integración: con </a:t>
            </a:r>
            <a:r>
              <a:rPr lang="es-ES" dirty="0" err="1"/>
              <a:t>Supertest</a:t>
            </a:r>
            <a:r>
              <a:rPr lang="es-ES" dirty="0"/>
              <a:t>, evaluando rutas y middlewares directamente sobre la API.</a:t>
            </a:r>
          </a:p>
          <a:p>
            <a:r>
              <a:rPr lang="es-ES" dirty="0"/>
              <a:t>Métricas y salud: integración de </a:t>
            </a:r>
            <a:r>
              <a:rPr lang="es-ES" dirty="0" err="1"/>
              <a:t>Prometheus</a:t>
            </a:r>
            <a:r>
              <a:rPr lang="es-ES" dirty="0"/>
              <a:t> y </a:t>
            </a:r>
            <a:r>
              <a:rPr lang="es-ES" dirty="0" err="1"/>
              <a:t>endpoints</a:t>
            </a:r>
            <a:r>
              <a:rPr lang="es-ES" dirty="0"/>
              <a:t> /</a:t>
            </a:r>
            <a:r>
              <a:rPr lang="es-ES" dirty="0" err="1"/>
              <a:t>healthz</a:t>
            </a:r>
            <a:r>
              <a:rPr lang="es-ES" dirty="0"/>
              <a:t> (estado básico) y /</a:t>
            </a:r>
            <a:r>
              <a:rPr lang="es-ES" dirty="0" err="1"/>
              <a:t>readyz</a:t>
            </a:r>
            <a:r>
              <a:rPr lang="es-ES" dirty="0"/>
              <a:t> (dependencias críticas).</a:t>
            </a:r>
          </a:p>
          <a:p>
            <a:r>
              <a:rPr lang="es-ES" dirty="0"/>
              <a:t>Monitoreo en producción: logs estructurados, </a:t>
            </a:r>
            <a:r>
              <a:rPr lang="es-ES" dirty="0" err="1"/>
              <a:t>dashboards</a:t>
            </a:r>
            <a:r>
              <a:rPr lang="es-ES" dirty="0"/>
              <a:t> y alertas en tiempo real para detectar fallos y anomalías.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Checklist de </a:t>
            </a:r>
            <a:r>
              <a:rPr dirty="0" err="1"/>
              <a:t>Producción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Variables de entorno: seguras, validadas y nunca expuestas en el código.</a:t>
            </a:r>
          </a:p>
          <a:p>
            <a:r>
              <a:rPr lang="es-ES" dirty="0"/>
              <a:t>Validación de entradas: exhaustiva en todos los </a:t>
            </a:r>
            <a:r>
              <a:rPr lang="es-ES" dirty="0" err="1"/>
              <a:t>endpoints</a:t>
            </a:r>
            <a:r>
              <a:rPr lang="es-ES" dirty="0"/>
              <a:t> para prevenir inyecciones y datos corruptos.</a:t>
            </a:r>
          </a:p>
          <a:p>
            <a:r>
              <a:rPr lang="es-ES" dirty="0"/>
              <a:t>Logs estructurados: con trazabilidad por </a:t>
            </a:r>
            <a:r>
              <a:rPr lang="es-ES" dirty="0" err="1"/>
              <a:t>request</a:t>
            </a:r>
            <a:r>
              <a:rPr lang="es-ES" dirty="0"/>
              <a:t>-id para depuración distribuida.</a:t>
            </a:r>
          </a:p>
          <a:p>
            <a:r>
              <a:rPr lang="es-ES" dirty="0"/>
              <a:t>Protecciones de red: configuración de </a:t>
            </a:r>
            <a:r>
              <a:rPr lang="es-ES" dirty="0" err="1"/>
              <a:t>Rate</a:t>
            </a:r>
            <a:r>
              <a:rPr lang="es-ES" dirty="0"/>
              <a:t> </a:t>
            </a:r>
            <a:r>
              <a:rPr lang="es-ES" dirty="0" err="1"/>
              <a:t>limiting</a:t>
            </a:r>
            <a:r>
              <a:rPr lang="es-ES" dirty="0"/>
              <a:t> y CORS adecuados.</a:t>
            </a:r>
          </a:p>
          <a:p>
            <a:r>
              <a:rPr lang="es-ES" dirty="0"/>
              <a:t>Documentación y monitoreo: mantener </a:t>
            </a:r>
            <a:r>
              <a:rPr lang="es-ES" dirty="0" err="1"/>
              <a:t>Swagger</a:t>
            </a:r>
            <a:r>
              <a:rPr lang="es-ES" dirty="0"/>
              <a:t>/</a:t>
            </a:r>
            <a:r>
              <a:rPr lang="es-ES" dirty="0" err="1"/>
              <a:t>OpenAPI</a:t>
            </a:r>
            <a:r>
              <a:rPr lang="es-ES" dirty="0"/>
              <a:t> actualizado junto con métricas y alertas activas.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Cierre</a:t>
            </a:r>
            <a:r>
              <a:rPr dirty="0"/>
              <a:t> 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Camino de aprendizaje: </a:t>
            </a:r>
            <a:r>
              <a:rPr lang="es-ES" dirty="0" err="1"/>
              <a:t>Node</a:t>
            </a:r>
            <a:r>
              <a:rPr lang="es-ES" dirty="0"/>
              <a:t> básico → Express fundamental → Autenticación → Base de datos → Seguridad avanzada → Docker/CI/CD.</a:t>
            </a:r>
          </a:p>
          <a:p>
            <a:r>
              <a:rPr lang="es-ES" dirty="0"/>
              <a:t>Preguntas clave de entrevista: middlewares en cadena, gestión de seguridad (XSS, CSRF), escalabilidad con </a:t>
            </a:r>
            <a:r>
              <a:rPr lang="es-ES" dirty="0" err="1"/>
              <a:t>clustering</a:t>
            </a:r>
            <a:r>
              <a:rPr lang="es-ES" dirty="0"/>
              <a:t> y </a:t>
            </a:r>
            <a:r>
              <a:rPr lang="es-ES" dirty="0" err="1"/>
              <a:t>caching</a:t>
            </a:r>
            <a:r>
              <a:rPr lang="es-ES" dirty="0"/>
              <a:t>.</a:t>
            </a:r>
          </a:p>
          <a:p>
            <a:r>
              <a:rPr lang="es-ES" dirty="0"/>
              <a:t>Próximos pasos: adopción de CI/CD, transición hacia microservicios y exploración de entornos </a:t>
            </a:r>
            <a:r>
              <a:rPr lang="es-ES" dirty="0" err="1"/>
              <a:t>serverless</a:t>
            </a:r>
            <a:r>
              <a:rPr lang="es-ES" dirty="0"/>
              <a:t>.</a:t>
            </a:r>
          </a:p>
          <a:p>
            <a:r>
              <a:rPr lang="es-ES" dirty="0"/>
              <a:t>Conclusión: Express.js, por su flexibilidad y madurez, se mantiene como el estándar de facto en el ecosistema Node.js.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5B12A-EA2B-6BF6-B43C-52921B0A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Nest</a:t>
            </a:r>
            <a:r>
              <a:rPr lang="es-AR"/>
              <a:t> JS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8D4515-3D49-501C-E77E-6126A766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567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128</TotalTime>
  <Words>1019</Words>
  <Application>Microsoft Office PowerPoint</Application>
  <PresentationFormat>Presentación en pantalla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Calisto MT</vt:lpstr>
      <vt:lpstr>Courier New</vt:lpstr>
      <vt:lpstr>Wingdings</vt:lpstr>
      <vt:lpstr>Wingdings 2</vt:lpstr>
      <vt:lpstr>Pizarra</vt:lpstr>
      <vt:lpstr>Express </vt:lpstr>
      <vt:lpstr>¿Qué es Express.js?</vt:lpstr>
      <vt:lpstr>Presentación de PowerPoint</vt:lpstr>
      <vt:lpstr>Conceptos Fundamentales</vt:lpstr>
      <vt:lpstr>Servidor Básico</vt:lpstr>
      <vt:lpstr>Rutas y Middlewares</vt:lpstr>
      <vt:lpstr>Arquitectura y Buenas Prácticas</vt:lpstr>
      <vt:lpstr>Seguridad en Express</vt:lpstr>
      <vt:lpstr>Funcionalidades Avanzadas</vt:lpstr>
      <vt:lpstr>Integración y Escalabilidad</vt:lpstr>
      <vt:lpstr>Testing y Observabilidad</vt:lpstr>
      <vt:lpstr>Checklist de Producción</vt:lpstr>
      <vt:lpstr>Cierre y Roadmap</vt:lpstr>
      <vt:lpstr>Nest JS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Tomas Splivalo</cp:lastModifiedBy>
  <cp:revision>4</cp:revision>
  <dcterms:created xsi:type="dcterms:W3CDTF">2013-01-27T09:14:16Z</dcterms:created>
  <dcterms:modified xsi:type="dcterms:W3CDTF">2025-09-13T22:35:58Z</dcterms:modified>
  <cp:category/>
</cp:coreProperties>
</file>